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0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0935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98480" y="4206240"/>
            <a:ext cx="3291840" cy="329184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188720" y="4846320"/>
            <a:ext cx="3108960" cy="3108960"/>
          </a:xfrm>
          <a:prstGeom prst="ellipse">
            <a:avLst/>
          </a:prstGeom>
          <a:solidFill>
            <a:srgbClr val="02C39A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DỰ ÁN  •  PHÒNG VẬN HÀNH DỊCH VỤ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SƠ ĐỒ NGHIỆP VỤ TỔNG THỂ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Hải Anh Homecare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2743200" cy="0"/>
          </a:xfrm>
          <a:prstGeom prst="line">
            <a:avLst/>
          </a:prstGeom>
          <a:noFill/>
          <a:ln w="28575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4023360"/>
            <a:ext cx="1331366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4023360"/>
            <a:ext cx="13313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lịch hẹn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17750" y="4023360"/>
            <a:ext cx="231709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17750" y="4023360"/>
            <a:ext cx="23170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phối kỹ thuật viên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81144" y="4023360"/>
            <a:ext cx="1869034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81144" y="4023360"/>
            <a:ext cx="18690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 &amp; Báo giá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96482" y="4023360"/>
            <a:ext cx="972922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96482" y="4023360"/>
            <a:ext cx="9729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 chữa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15707" y="4023360"/>
            <a:ext cx="231709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15707" y="4023360"/>
            <a:ext cx="23170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Nghiệm thu &amp; Thanh toán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179101" y="402336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179101" y="40233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hành / CSKH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5806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mô tả toàn bộ luồng nghiệp vụ end-to-end giữa Khách hàng, Tổng đài/Hệ thống, Kỹ thuật viên, Kho vật tư và Kế toán.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07/2026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lục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 tài liệu sơ đồ nghiệp vụ tổng thể của dự án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76200" dist="25400" dir="54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94767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CE7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quy trình 5 giai đoạn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00200" y="240487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Bức tranh toàn cảnh từ tiếp nhận đến chăm sóc sau dịch vụ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76200" dist="25400" dir="54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64808" y="194767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CE7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315200" y="19659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đối tượng tham gia nghiệp vụ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315200" y="240487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trò &amp; trách nhiệm của từng bộ phận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76200" dist="25400" dir="54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344728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CE7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600200" y="346557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nghiệp vụ tổng thể (Swimlane)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600200" y="390448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xử lý chi tiết theo từng đối tượng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3282696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76200" dist="25400" dir="54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64808" y="344728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CE7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315200" y="346557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tiết từng giai đoạn nghiệp vụ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315200" y="390448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lịch, khảo sát, sửa chữa, nghiệm thu, thanh toán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782312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76200" dist="25400" dir="54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9808" y="4946904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CE7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600200" y="496519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trạng thái đơn sửa chữa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600200" y="5404104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Vòng đời của một đơn hàng trong hệ thống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4782312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76200" dist="25400" dir="54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64808" y="4946904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CE7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315200" y="496519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ích &amp; Chỉ số vận hành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315200" y="5404104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trị mang lại khi triển khai hệ thống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NGHIỆP VỤ TỔNG THỂ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TỔNG QUAN QUY TRÌNH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Quy trình nghiệp vụ gồm 5 giai đoạn chính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vòng đời một yêu cầu sửa chữa, từ lúc khách hàng đặt lịch đến khi được chăm sóc sau dịch vụ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531620" y="1947672"/>
            <a:ext cx="9125712" cy="0"/>
          </a:xfrm>
          <a:prstGeom prst="line">
            <a:avLst/>
          </a:prstGeom>
          <a:noFill/>
          <a:ln w="254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75588" y="169164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75588" y="1691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965960" cy="2331720"/>
          </a:xfrm>
          <a:prstGeom prst="roundRect">
            <a:avLst>
              <a:gd name="adj" fmla="val 4186"/>
            </a:avLst>
          </a:prstGeom>
          <a:solidFill>
            <a:srgbClr val="F4F8FA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96596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4944" y="2551176"/>
            <a:ext cx="1673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LỊCH HẸN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4944" y="3081528"/>
            <a:ext cx="16733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 đặt lịch qua App / Website / Hotline, cung cấp thông tin thiết bị &amp; sự cố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57016" y="169164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57016" y="1691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830068" y="2331720"/>
            <a:ext cx="1965960" cy="2331720"/>
          </a:xfrm>
          <a:prstGeom prst="roundRect">
            <a:avLst>
              <a:gd name="adj" fmla="val 4186"/>
            </a:avLst>
          </a:prstGeom>
          <a:solidFill>
            <a:srgbClr val="F4F8FA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830068" y="2331720"/>
            <a:ext cx="1965960" cy="7315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76372" y="2551176"/>
            <a:ext cx="1673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PHỐI &amp; KHẢO SÁT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76372" y="3081528"/>
            <a:ext cx="16733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phân công kỹ thuật viên; KTV đến khảo sát, chẩn đoán và báo giá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38444" y="1691640"/>
            <a:ext cx="512064" cy="51206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38444" y="1691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111496" y="2331720"/>
            <a:ext cx="1965960" cy="2331720"/>
          </a:xfrm>
          <a:prstGeom prst="roundRect">
            <a:avLst>
              <a:gd name="adj" fmla="val 4186"/>
            </a:avLst>
          </a:prstGeom>
          <a:solidFill>
            <a:srgbClr val="F4F8FA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111496" y="2331720"/>
            <a:ext cx="196596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57800" y="2551176"/>
            <a:ext cx="1673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 CHỮA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081528"/>
            <a:ext cx="16733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KTV tiến hành sửa chữa, thay thế linh kiện; kho vật tư hỗ trợ cấp phát khi cần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19872" y="169164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119872" y="1691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392924" y="2331720"/>
            <a:ext cx="1965960" cy="2331720"/>
          </a:xfrm>
          <a:prstGeom prst="roundRect">
            <a:avLst>
              <a:gd name="adj" fmla="val 4186"/>
            </a:avLst>
          </a:prstGeom>
          <a:solidFill>
            <a:srgbClr val="F4F8FA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392924" y="2331720"/>
            <a:ext cx="1965960" cy="7315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539228" y="2551176"/>
            <a:ext cx="1673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NGHIỆM THU &amp; THANH TOÁN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539228" y="3081528"/>
            <a:ext cx="16733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 kiểm tra, xác nhận hoàn thành và thanh toán chi phí dịch vụ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401300" y="1691640"/>
            <a:ext cx="512064" cy="512064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401300" y="1691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674352" y="2331720"/>
            <a:ext cx="1965960" cy="2331720"/>
          </a:xfrm>
          <a:prstGeom prst="roundRect">
            <a:avLst>
              <a:gd name="adj" fmla="val 4186"/>
            </a:avLst>
          </a:prstGeom>
          <a:solidFill>
            <a:srgbClr val="F4F8FA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674352" y="2331720"/>
            <a:ext cx="1965960" cy="73152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820656" y="2551176"/>
            <a:ext cx="1673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HÀNH &amp; CSKH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820656" y="3081528"/>
            <a:ext cx="16733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toán xuất hoá đơn, kích hoạt bảo hành; hệ thống khảo sát đánh giá dịch vụ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NGHIỆP VỤ TỔNG THỂ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ĐỐI TƯỢNG THAM GIA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Vai trò của từng bộ phận trong quy trình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nhóm đối tượng phối hợp xuyên suốt quy trình đặt lịch và sửa chữa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8444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63500" dist="25400" dir="54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8096" y="200253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8096" y="2569464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8096" y="2953512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lịch hẹn, cung cấp thông tin thiết bị/sự cố, duyệt báo giá, nghiệm thu, thanh toán và đánh giá dịch vụ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7972" y="1783080"/>
            <a:ext cx="358444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63500" dist="25400" dir="54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67428" y="200253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67428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7428" y="2569464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/ TỔNG ĐÀI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67428" y="2953512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nhận yêu cầu qua App, Website, Hotline; tạo phiếu, gửi thông báo, điều phối kỹ thuật viên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47304" y="1783080"/>
            <a:ext cx="358444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63500" dist="25400" dir="54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66760" y="200253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66760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6760" y="2569464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PHỐI VIÊN (CSKH)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66760" y="2953512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công kỹ thuật viên theo khu vực – chuyên môn – lịch trống; theo dõi tiến độ xử lý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358444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63500" dist="25400" dir="54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68096" y="4379976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68096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68096" y="4946904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THUẬT VIÊN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8096" y="5330952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sát, chẩn đoán lỗi, báo giá, sửa chữa, kiểm tra vận hành và nghiệm thu cùng khách hàng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47972" y="4160520"/>
            <a:ext cx="358444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63500" dist="25400" dir="54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67428" y="4379976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67428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67428" y="4946904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VẬT TƯ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67428" y="5330952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tồn kho linh kiện, xuất/nhập kho theo yêu cầu sửa chữa, cảnh báo hết hàng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47304" y="4160520"/>
            <a:ext cx="358444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63500" dist="25400" dir="54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366760" y="4379976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36676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66760" y="4946904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TOÁN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66760" y="5330952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hoá đơn, đối soát thanh toán, quản lý chính sách và thời hạn bảo hành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NGHIỆP VỤ TỔNG THỂ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SƠ ĐỒ NGHIỆP VỤ TỔNG THỂ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Luồng xử lý xuyên suốt theo từng đối tượng (Swimlane)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874520" y="1225296"/>
            <a:ext cx="9902952" cy="1170432"/>
          </a:xfrm>
          <a:prstGeom prst="rect">
            <a:avLst/>
          </a:prstGeom>
          <a:solidFill>
            <a:srgbClr val="1C7293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1325880" cy="117043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25296"/>
            <a:ext cx="1325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74520" y="1225296"/>
            <a:ext cx="9902952" cy="0"/>
          </a:xfrm>
          <a:prstGeom prst="line">
            <a:avLst/>
          </a:prstGeom>
          <a:noFill/>
          <a:ln w="9525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874520" y="2395728"/>
            <a:ext cx="9902952" cy="1170432"/>
          </a:xfrm>
          <a:prstGeom prst="rect">
            <a:avLst/>
          </a:prstGeom>
          <a:solidFill>
            <a:srgbClr val="065A82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395728"/>
            <a:ext cx="1325880" cy="117043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395728"/>
            <a:ext cx="1325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/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CSKH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74520" y="2395728"/>
            <a:ext cx="9902952" cy="0"/>
          </a:xfrm>
          <a:prstGeom prst="line">
            <a:avLst/>
          </a:prstGeom>
          <a:noFill/>
          <a:ln w="9525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874520" y="3566160"/>
            <a:ext cx="9902952" cy="1170432"/>
          </a:xfrm>
          <a:prstGeom prst="rect">
            <a:avLst/>
          </a:prstGeom>
          <a:solidFill>
            <a:srgbClr val="02C39A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1325880" cy="117043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1325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THUẬT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VIÊN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74520" y="3566160"/>
            <a:ext cx="9902952" cy="0"/>
          </a:xfrm>
          <a:prstGeom prst="line">
            <a:avLst/>
          </a:prstGeom>
          <a:noFill/>
          <a:ln w="9525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874520" y="4736592"/>
            <a:ext cx="9902952" cy="1170432"/>
          </a:xfrm>
          <a:prstGeom prst="rect">
            <a:avLst/>
          </a:prstGeom>
          <a:solidFill>
            <a:srgbClr val="21295C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4736592"/>
            <a:ext cx="1325880" cy="1170432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4736592"/>
            <a:ext cx="1325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TOÁN /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74520" y="4736592"/>
            <a:ext cx="9902952" cy="0"/>
          </a:xfrm>
          <a:prstGeom prst="line">
            <a:avLst/>
          </a:prstGeom>
          <a:noFill/>
          <a:ln w="9525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874520" y="5907024"/>
            <a:ext cx="9902952" cy="0"/>
          </a:xfrm>
          <a:prstGeom prst="line">
            <a:avLst/>
          </a:prstGeom>
          <a:noFill/>
          <a:ln w="9525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35428" y="1810512"/>
            <a:ext cx="258775" cy="1170432"/>
          </a:xfrm>
          <a:prstGeom prst="line">
            <a:avLst/>
          </a:prstGeom>
          <a:noFill/>
          <a:ln w="19050">
            <a:solidFill>
              <a:srgbClr val="9FB3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725723" y="2980944"/>
            <a:ext cx="258775" cy="914"/>
          </a:xfrm>
          <a:prstGeom prst="line">
            <a:avLst/>
          </a:prstGeom>
          <a:noFill/>
          <a:ln w="19050">
            <a:solidFill>
              <a:srgbClr val="9FB3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16018" y="2980944"/>
            <a:ext cx="258775" cy="1170432"/>
          </a:xfrm>
          <a:prstGeom prst="line">
            <a:avLst/>
          </a:prstGeom>
          <a:noFill/>
          <a:ln w="19050">
            <a:solidFill>
              <a:srgbClr val="9FB3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706313" y="4151376"/>
            <a:ext cx="258775" cy="914"/>
          </a:xfrm>
          <a:prstGeom prst="line">
            <a:avLst/>
          </a:prstGeom>
          <a:noFill/>
          <a:ln w="19050">
            <a:solidFill>
              <a:srgbClr val="9FB3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 flipV="1">
            <a:off x="6696608" y="1810512"/>
            <a:ext cx="258775" cy="2340864"/>
          </a:xfrm>
          <a:prstGeom prst="line">
            <a:avLst/>
          </a:prstGeom>
          <a:noFill/>
          <a:ln w="19050">
            <a:solidFill>
              <a:srgbClr val="9FB3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686904" y="1810512"/>
            <a:ext cx="258775" cy="2340864"/>
          </a:xfrm>
          <a:prstGeom prst="line">
            <a:avLst/>
          </a:prstGeom>
          <a:noFill/>
          <a:ln w="19050">
            <a:solidFill>
              <a:srgbClr val="9FB3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677199" y="4151376"/>
            <a:ext cx="258775" cy="914"/>
          </a:xfrm>
          <a:prstGeom prst="line">
            <a:avLst/>
          </a:prstGeom>
          <a:noFill/>
          <a:ln w="19050">
            <a:solidFill>
              <a:srgbClr val="9FB3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 flipV="1">
            <a:off x="9667494" y="1810512"/>
            <a:ext cx="258775" cy="2340864"/>
          </a:xfrm>
          <a:prstGeom prst="line">
            <a:avLst/>
          </a:prstGeom>
          <a:noFill/>
          <a:ln w="19050">
            <a:solidFill>
              <a:srgbClr val="9FB3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657789" y="1810512"/>
            <a:ext cx="258775" cy="3511296"/>
          </a:xfrm>
          <a:prstGeom prst="line">
            <a:avLst/>
          </a:prstGeom>
          <a:noFill/>
          <a:ln w="19050">
            <a:solidFill>
              <a:srgbClr val="9FB3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771943" y="4978994"/>
            <a:ext cx="9144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21295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854239" y="49377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kho</a:t>
            </a:r>
            <a:endParaRPr lang="en-US" sz="7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 kiện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311439" y="4489704"/>
            <a:ext cx="914" cy="548640"/>
          </a:xfrm>
          <a:prstGeom prst="line">
            <a:avLst/>
          </a:prstGeom>
          <a:noFill/>
          <a:ln w="15875">
            <a:solidFill>
              <a:srgbClr val="21295C"/>
            </a:solidFill>
            <a:prstDash val="dash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949044" y="1417320"/>
            <a:ext cx="841248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7780">
            <a:solidFill>
              <a:srgbClr val="1C7293"/>
            </a:solidFill>
            <a:prstDash val="solid"/>
          </a:ln>
          <a:effectLst>
            <a:outerShdw blurRad="50800" dist="1905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994764" y="1527048"/>
            <a:ext cx="74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lịch hẹn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1811884" y="128016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811884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939339" y="2587752"/>
            <a:ext cx="841248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7780">
            <a:solidFill>
              <a:srgbClr val="065A82"/>
            </a:solidFill>
            <a:prstDash val="solid"/>
          </a:ln>
          <a:effectLst>
            <a:outerShdw blurRad="50800" dist="1905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985059" y="2697480"/>
            <a:ext cx="74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nhận, tạo phiếu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2802179" y="2450592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802179" y="2450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929634" y="2587752"/>
            <a:ext cx="841248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7780">
            <a:solidFill>
              <a:srgbClr val="065A82"/>
            </a:solidFill>
            <a:prstDash val="solid"/>
          </a:ln>
          <a:effectLst>
            <a:outerShdw blurRad="50800" dist="1905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975354" y="2697480"/>
            <a:ext cx="74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công KTV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3792474" y="2450592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792474" y="2450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919929" y="3758184"/>
            <a:ext cx="841248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7780">
            <a:solidFill>
              <a:srgbClr val="02C39A"/>
            </a:solidFill>
            <a:prstDash val="solid"/>
          </a:ln>
          <a:effectLst>
            <a:outerShdw blurRad="50800" dist="1905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965649" y="3867912"/>
            <a:ext cx="74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 thiết bị</a:t>
            </a:r>
            <a:endParaRPr lang="en-US" sz="830" dirty="0"/>
          </a:p>
        </p:txBody>
      </p:sp>
      <p:sp>
        <p:nvSpPr>
          <p:cNvPr id="47" name="Shape 45"/>
          <p:cNvSpPr/>
          <p:nvPr/>
        </p:nvSpPr>
        <p:spPr>
          <a:xfrm>
            <a:off x="4782769" y="3621024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782769" y="3621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910224" y="3758184"/>
            <a:ext cx="841248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7780">
            <a:solidFill>
              <a:srgbClr val="02C39A"/>
            </a:solidFill>
            <a:prstDash val="solid"/>
          </a:ln>
          <a:effectLst>
            <a:outerShdw blurRad="50800" dist="1905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955944" y="3867912"/>
            <a:ext cx="74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giá sửa chữa</a:t>
            </a:r>
            <a:endParaRPr lang="en-US" sz="830" dirty="0"/>
          </a:p>
        </p:txBody>
      </p:sp>
      <p:sp>
        <p:nvSpPr>
          <p:cNvPr id="51" name="Shape 49"/>
          <p:cNvSpPr/>
          <p:nvPr/>
        </p:nvSpPr>
        <p:spPr>
          <a:xfrm>
            <a:off x="5773064" y="3621024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773064" y="3621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900520" y="1417320"/>
            <a:ext cx="841248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7780">
            <a:solidFill>
              <a:srgbClr val="1C7293"/>
            </a:solidFill>
            <a:prstDash val="solid"/>
          </a:ln>
          <a:effectLst>
            <a:outerShdw blurRad="50800" dist="1905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946240" y="1527048"/>
            <a:ext cx="74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báo giá</a:t>
            </a:r>
            <a:endParaRPr lang="en-US" sz="830" dirty="0"/>
          </a:p>
        </p:txBody>
      </p:sp>
      <p:sp>
        <p:nvSpPr>
          <p:cNvPr id="55" name="Shape 53"/>
          <p:cNvSpPr/>
          <p:nvPr/>
        </p:nvSpPr>
        <p:spPr>
          <a:xfrm>
            <a:off x="6763360" y="128016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763360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890815" y="3758184"/>
            <a:ext cx="841248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7780">
            <a:solidFill>
              <a:srgbClr val="02C39A"/>
            </a:solidFill>
            <a:prstDash val="solid"/>
          </a:ln>
          <a:effectLst>
            <a:outerShdw blurRad="50800" dist="1905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936535" y="3867912"/>
            <a:ext cx="74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 hành sửa chữa</a:t>
            </a:r>
            <a:endParaRPr lang="en-US" sz="830" dirty="0"/>
          </a:p>
        </p:txBody>
      </p:sp>
      <p:sp>
        <p:nvSpPr>
          <p:cNvPr id="59" name="Shape 57"/>
          <p:cNvSpPr/>
          <p:nvPr/>
        </p:nvSpPr>
        <p:spPr>
          <a:xfrm>
            <a:off x="7753655" y="3621024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753655" y="3621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881110" y="3758184"/>
            <a:ext cx="841248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7780">
            <a:solidFill>
              <a:srgbClr val="02C39A"/>
            </a:solidFill>
            <a:prstDash val="solid"/>
          </a:ln>
          <a:effectLst>
            <a:outerShdw blurRad="50800" dist="1905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8926830" y="3867912"/>
            <a:ext cx="74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Nghiệm thu, chạy thử</a:t>
            </a:r>
            <a:endParaRPr lang="en-US" sz="830" dirty="0"/>
          </a:p>
        </p:txBody>
      </p:sp>
      <p:sp>
        <p:nvSpPr>
          <p:cNvPr id="63" name="Shape 61"/>
          <p:cNvSpPr/>
          <p:nvPr/>
        </p:nvSpPr>
        <p:spPr>
          <a:xfrm>
            <a:off x="8743950" y="3621024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8743950" y="3621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9871405" y="1417320"/>
            <a:ext cx="841248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7780">
            <a:solidFill>
              <a:srgbClr val="1C7293"/>
            </a:solidFill>
            <a:prstDash val="solid"/>
          </a:ln>
          <a:effectLst>
            <a:outerShdw blurRad="50800" dist="1905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9917125" y="1527048"/>
            <a:ext cx="74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toán</a:t>
            </a:r>
            <a:endParaRPr lang="en-US" sz="830" dirty="0"/>
          </a:p>
        </p:txBody>
      </p:sp>
      <p:sp>
        <p:nvSpPr>
          <p:cNvPr id="67" name="Shape 65"/>
          <p:cNvSpPr/>
          <p:nvPr/>
        </p:nvSpPr>
        <p:spPr>
          <a:xfrm>
            <a:off x="9734245" y="128016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9734245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10861700" y="4928616"/>
            <a:ext cx="841248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7780">
            <a:solidFill>
              <a:srgbClr val="21295C"/>
            </a:solidFill>
            <a:prstDash val="solid"/>
          </a:ln>
          <a:effectLst>
            <a:outerShdw blurRad="50800" dist="1905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10907420" y="5038344"/>
            <a:ext cx="74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hoá đơn, bảo hành</a:t>
            </a:r>
            <a:endParaRPr lang="en-US" sz="830" dirty="0"/>
          </a:p>
        </p:txBody>
      </p:sp>
      <p:sp>
        <p:nvSpPr>
          <p:cNvPr id="71" name="Shape 69"/>
          <p:cNvSpPr/>
          <p:nvPr/>
        </p:nvSpPr>
        <p:spPr>
          <a:xfrm>
            <a:off x="10724540" y="4791456"/>
            <a:ext cx="292608" cy="292608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10724540" y="4791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NGHIỆP VỤ TỔNG THỂ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CHI TIẾT GIAI ĐOẠN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Đặt lịch hẹn &amp; Tiếp nhận yêu cầu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khởi đầu của quy trình — từ khi khách hàng có nhu cầu đến khi kỹ thuật viên được phân công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050792" y="2240280"/>
            <a:ext cx="283464" cy="914"/>
          </a:xfrm>
          <a:prstGeom prst="line">
            <a:avLst/>
          </a:prstGeom>
          <a:noFill/>
          <a:ln w="22225">
            <a:solidFill>
              <a:srgbClr val="AFC2C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854696" y="2240280"/>
            <a:ext cx="283464" cy="914"/>
          </a:xfrm>
          <a:prstGeom prst="line">
            <a:avLst/>
          </a:prstGeom>
          <a:noFill/>
          <a:ln w="22225">
            <a:solidFill>
              <a:srgbClr val="AFC2C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483864" cy="4160520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63500" dist="25400" dir="54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6384" y="197510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86384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89888" y="1956816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 đặt lịch hẹn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86384" y="2670048"/>
            <a:ext cx="3008376" cy="0"/>
          </a:xfrm>
          <a:prstGeom prst="line">
            <a:avLst/>
          </a:prstGeom>
          <a:noFill/>
          <a:ln w="9525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86384" y="2798064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KÊNH THỰC HIỆN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86384" y="3026664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Website / Hotline / Zalo OA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86384" y="3429000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86384" y="36576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loại thiết bị, mô tả sự cố, khung giờ mong muốn và địa chỉ sửa chữa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6384" y="4242816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RA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86384" y="4471416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đặt lịch được ghi nhận vào hệ thống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52544" y="1737360"/>
            <a:ext cx="3483864" cy="4160520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63500" dist="25400" dir="54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90288" y="197510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90288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93792" y="1956816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tiếp nhận, tạo phiếu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90288" y="2670048"/>
            <a:ext cx="3008376" cy="0"/>
          </a:xfrm>
          <a:prstGeom prst="line">
            <a:avLst/>
          </a:prstGeom>
          <a:noFill/>
          <a:ln w="9525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90288" y="2798064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KÊNH THỰC HIỆN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90288" y="3026664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CRM / Tổng đài viên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90288" y="3429000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90288" y="36576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thông tin khách hàng, khởi tạo mã phiếu yêu cầu, gửi thông báo xác nhận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90288" y="4242816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90288" y="4471416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trong vòng tối đa 15 phút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56448" y="1737360"/>
            <a:ext cx="3483864" cy="4160520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63500" dist="25400" dir="54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94192" y="197510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394192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997696" y="1956816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công kỹ thuật viên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8394192" y="2670048"/>
            <a:ext cx="3008376" cy="0"/>
          </a:xfrm>
          <a:prstGeom prst="line">
            <a:avLst/>
          </a:prstGeom>
          <a:noFill/>
          <a:ln w="9525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394192" y="2798064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KÊNH THỰC HIỆN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394192" y="3026664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phối viên hoặc thuật toán phân công tự động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394192" y="3611880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394192" y="384048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KTV theo khu vực, chuyên môn thiết bị và lịch trống gần nhất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394192" y="4425696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RA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394192" y="4654296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KTV được gán; khách hàng nhận thông tin giờ hẹn và KTV phụ trách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NGHIỆP VỤ TỔNG THỂ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CHI TIẾT GIAI ĐOẠN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Khảo sát thiết bị &amp; Báo giá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thuật viên đến hiện trường, xác định nguyên nhân và thống nhất chi phí với khách hàng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050792" y="2240280"/>
            <a:ext cx="283464" cy="914"/>
          </a:xfrm>
          <a:prstGeom prst="line">
            <a:avLst/>
          </a:prstGeom>
          <a:noFill/>
          <a:ln w="22225">
            <a:solidFill>
              <a:srgbClr val="AFC2C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854696" y="2240280"/>
            <a:ext cx="283464" cy="914"/>
          </a:xfrm>
          <a:prstGeom prst="line">
            <a:avLst/>
          </a:prstGeom>
          <a:noFill/>
          <a:ln w="22225">
            <a:solidFill>
              <a:srgbClr val="AFC2C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483864" cy="3794760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63500" dist="25400" dir="54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6384" y="197510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86384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89888" y="1956816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chuyển &amp; khảo sát thiết bị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86384" y="2670048"/>
            <a:ext cx="3008376" cy="0"/>
          </a:xfrm>
          <a:prstGeom prst="line">
            <a:avLst/>
          </a:prstGeom>
          <a:noFill/>
          <a:ln w="9525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86384" y="2798064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86384" y="3026664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KTV có mặt đúng giờ hẹn, kiểm tra tình trạng thực tế của thiết bị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86384" y="3611880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86384" y="384048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nguyên nhân hư hỏng và mức độ hư hỏng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52544" y="1737360"/>
            <a:ext cx="3483864" cy="3794760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63500" dist="25400" dir="54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90288" y="197510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90288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93792" y="1956816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Chẩn đoán &amp; lập báo giá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90288" y="2670048"/>
            <a:ext cx="3008376" cy="0"/>
          </a:xfrm>
          <a:prstGeom prst="line">
            <a:avLst/>
          </a:prstGeom>
          <a:noFill/>
          <a:ln w="9525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90288" y="2798064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90288" y="3026664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linh kiện cần thay, nhân công và thời gian sửa chữa dự kiến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90288" y="3611880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90288" y="384048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báo giá trực tiếp trên ứng dụng dành cho KTV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56448" y="1737360"/>
            <a:ext cx="3483864" cy="3794760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63500" dist="25400" dir="54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394192" y="197510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394192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997696" y="1956816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 duyệt báo giá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394192" y="2670048"/>
            <a:ext cx="3008376" cy="0"/>
          </a:xfrm>
          <a:prstGeom prst="line">
            <a:avLst/>
          </a:prstGeom>
          <a:noFill/>
          <a:ln w="9525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394192" y="2798064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394192" y="3026664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 xem chi tiết báo giá và xác nhận đồng ý qua App hoặc trực tiếp với KTV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94192" y="3794760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NHÁNH RẼ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394192" y="402336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từ chối: ghi nhận lý do và đóng đơn yêu cầu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696712"/>
            <a:ext cx="11091672" cy="457200"/>
          </a:xfrm>
          <a:prstGeom prst="roundRect">
            <a:avLst>
              <a:gd name="adj" fmla="val 16000"/>
            </a:avLst>
          </a:prstGeom>
          <a:solidFill>
            <a:srgbClr val="065A82">
              <a:alpha val="10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77240" y="5696712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ý: Mọi báo giá đều được ghi nhận trong hệ thống trước khi tiến hành sửa chữa, đảm bảo minh bạch chi phí với khách hàng.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NGHIỆP VỤ TỔNG THỂ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CHI TIẾT GIAI ĐOẠN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Tiến hành sửa chữa &amp; Phối hợp kho vật tư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thuật viên thực hiện sửa chữa; kho vật tư hỗ trợ cấp phát linh kiện khi cần thiết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63500" dist="25400" dir="54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49240" cy="5029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86384" y="18288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KỸ THUẬT VIÊN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86384" y="2542032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86384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2505456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 dụng cụ và linh kiện theo báo giá đã duyệt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86384" y="320040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86384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3163824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tồn kho linh kiện cần dùng trên ứng dụng KTV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6384" y="385876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6384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3822192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thiếu: gửi yêu cầu xuất kho tới bộ phận vật tư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86384" y="4517136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6384" y="4517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34440" y="4480560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 hành tháo lắp, sửa chữa / thay thế linh kiện theo quy trình kỹ thuật an toàn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6384" y="5175504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6384" y="5175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34440" y="5138928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Vệ sinh, kiểm tra tổng thể thiết bị sau sửa chữa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1828800"/>
            <a:ext cx="534924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63500" dist="25400" dir="54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263640" y="1828800"/>
            <a:ext cx="5349240" cy="5029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01384" y="18288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KHO VẬT TƯ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01384" y="2542032"/>
            <a:ext cx="310896" cy="310896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01384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49440" y="2505456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nhận yêu cầu xuất kho từ kỹ thuật viên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501384" y="3200400"/>
            <a:ext cx="310896" cy="310896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01384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49440" y="3163824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số lượng tồn kho linh kiện tương ứng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501384" y="3858768"/>
            <a:ext cx="310896" cy="310896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01384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49440" y="3822192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kho, cập nhật số liệu tồn trên hệ thống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501384" y="4517136"/>
            <a:ext cx="310896" cy="310896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01384" y="4517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49440" y="4480560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Bàn giao linh kiện cho kỹ thuật viên (tại kho hoặc giao tận nơi)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501384" y="5175504"/>
            <a:ext cx="310896" cy="310896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01384" y="5175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49440" y="5138928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tự động khi tồn kho dưới định mức an toàn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916168" y="3794760"/>
            <a:ext cx="329184" cy="914"/>
          </a:xfrm>
          <a:prstGeom prst="line">
            <a:avLst/>
          </a:prstGeom>
          <a:noFill/>
          <a:ln w="25400">
            <a:solidFill>
              <a:srgbClr val="5C70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 flipH="1">
            <a:off x="5916168" y="4114800"/>
            <a:ext cx="329184" cy="914"/>
          </a:xfrm>
          <a:prstGeom prst="line">
            <a:avLst/>
          </a:prstGeom>
          <a:noFill/>
          <a:ln w="25400">
            <a:solidFill>
              <a:srgbClr val="5C70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897880" y="35021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897880" y="4160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Cấp phát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NGHIỆP VỤ TỔNG THỂ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CHI TIẾT GIAI ĐOẠN 4 – 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Nghiệm thu, Thanh toán &amp; Bảo hành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tất dịch vụ, đối soát chi phí và chăm sóc khách hàng sau sửa chữa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050792" y="2240280"/>
            <a:ext cx="283464" cy="914"/>
          </a:xfrm>
          <a:prstGeom prst="line">
            <a:avLst/>
          </a:prstGeom>
          <a:noFill/>
          <a:ln w="22225">
            <a:solidFill>
              <a:srgbClr val="AFC2C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854696" y="2240280"/>
            <a:ext cx="283464" cy="914"/>
          </a:xfrm>
          <a:prstGeom prst="line">
            <a:avLst/>
          </a:prstGeom>
          <a:noFill/>
          <a:ln w="22225">
            <a:solidFill>
              <a:srgbClr val="AFC2C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483864" cy="3794760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63500" dist="25400" dir="54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6384" y="1975104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86384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89888" y="1956816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Nghiệm thu, chạy thử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86384" y="2670048"/>
            <a:ext cx="3008376" cy="0"/>
          </a:xfrm>
          <a:prstGeom prst="line">
            <a:avLst/>
          </a:prstGeom>
          <a:noFill/>
          <a:ln w="9525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86384" y="2798064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86384" y="3026664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KTV kiểm tra vận hành thử cùng khách hàng, xác nhận thiết bị hoạt động bình thường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86384" y="3794760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RA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86384" y="402336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Biên bản nghiệm thu được xác nhận trên hệ thống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52544" y="1737360"/>
            <a:ext cx="3483864" cy="3794760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63500" dist="25400" dir="54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90288" y="1975104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90288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93792" y="1956816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toán chi phí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90288" y="2670048"/>
            <a:ext cx="3008376" cy="0"/>
          </a:xfrm>
          <a:prstGeom prst="line">
            <a:avLst/>
          </a:prstGeom>
          <a:noFill/>
          <a:ln w="9525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90288" y="2798064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KÊNH THỰC HIỆN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90288" y="3026664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Tiền mặt / Chuyển khoản / Ví điện tử / Quét mã QR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90288" y="3611880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90288" y="384048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 thanh toán theo báo giá đã được duyệt trước đó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56448" y="1737360"/>
            <a:ext cx="3483864" cy="3794760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63500" dist="25400" dir="54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394192" y="1975104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394192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997696" y="1956816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Hoá đơn &amp; Bảo hành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394192" y="2670048"/>
            <a:ext cx="3008376" cy="0"/>
          </a:xfrm>
          <a:prstGeom prst="line">
            <a:avLst/>
          </a:prstGeom>
          <a:noFill/>
          <a:ln w="9525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394192" y="2798064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HIỆN BỞI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394192" y="3026664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phận Kế toán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94192" y="3429000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394192" y="36576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hoá đơn điện tử, kích hoạt thời hạn bảo hành cho linh kiện / dịch vụ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696712"/>
            <a:ext cx="11091672" cy="457200"/>
          </a:xfrm>
          <a:prstGeom prst="roundRect">
            <a:avLst>
              <a:gd name="adj" fmla="val 16000"/>
            </a:avLst>
          </a:prstGeom>
          <a:solidFill>
            <a:srgbClr val="02C39A">
              <a:alpha val="1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77240" y="5696712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khi hoàn tất: hệ thống tự động gửi khảo sát đánh giá chất lượng dịch vụ và lưu lịch sử bảo hành để phục vụ chăm sóc khách hàng lâu dài.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NGHIỆP VỤ TỔNG THỂ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VÒNG ĐỜI ĐƠN HÀNG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Sơ đồ trạng thái đơn sửa chữa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trạng thái một đơn yêu cầu sửa chữa trải qua trong hệ thống quản lý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783080" y="3314700"/>
            <a:ext cx="173736" cy="914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191256" y="3314700"/>
            <a:ext cx="173736" cy="914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99432" y="3314700"/>
            <a:ext cx="173736" cy="914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07608" y="3314700"/>
            <a:ext cx="173736" cy="914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15784" y="3314700"/>
            <a:ext cx="173736" cy="914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823960" y="3314700"/>
            <a:ext cx="173736" cy="914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232136" y="3314700"/>
            <a:ext cx="173736" cy="914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1234440" cy="868680"/>
          </a:xfrm>
          <a:prstGeom prst="roundRect">
            <a:avLst>
              <a:gd name="adj" fmla="val 1473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88036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Mới tạo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56816" y="2880360"/>
            <a:ext cx="1234440" cy="868680"/>
          </a:xfrm>
          <a:prstGeom prst="roundRect">
            <a:avLst>
              <a:gd name="adj" fmla="val 1473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002536" y="288036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phân công KTV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64992" y="2880360"/>
            <a:ext cx="1234440" cy="868680"/>
          </a:xfrm>
          <a:prstGeom prst="roundRect">
            <a:avLst>
              <a:gd name="adj" fmla="val 1473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10712" y="288036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khảo sát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73168" y="2880360"/>
            <a:ext cx="1234440" cy="868680"/>
          </a:xfrm>
          <a:prstGeom prst="roundRect">
            <a:avLst>
              <a:gd name="adj" fmla="val 1473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18888" y="288036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Chờ duyệt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giá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81344" y="2880360"/>
            <a:ext cx="1234440" cy="868680"/>
          </a:xfrm>
          <a:prstGeom prst="roundRect">
            <a:avLst>
              <a:gd name="adj" fmla="val 1473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27064" y="288036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sửa chữa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89520" y="2880360"/>
            <a:ext cx="1234440" cy="868680"/>
          </a:xfrm>
          <a:prstGeom prst="roundRect">
            <a:avLst>
              <a:gd name="adj" fmla="val 1473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635240" y="288036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Chờ nghiệm thu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97696" y="2880360"/>
            <a:ext cx="1234440" cy="868680"/>
          </a:xfrm>
          <a:prstGeom prst="roundRect">
            <a:avLst>
              <a:gd name="adj" fmla="val 1473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043416" y="288036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405872" y="2880360"/>
            <a:ext cx="1234440" cy="868680"/>
          </a:xfrm>
          <a:prstGeom prst="roundRect">
            <a:avLst>
              <a:gd name="adj" fmla="val 14737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451592" y="288036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thanh toán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90388" y="3749040"/>
            <a:ext cx="914" cy="777240"/>
          </a:xfrm>
          <a:prstGeom prst="line">
            <a:avLst/>
          </a:prstGeom>
          <a:noFill/>
          <a:ln w="22225">
            <a:solidFill>
              <a:srgbClr val="C0392B"/>
            </a:solidFill>
            <a:prstDash val="dash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04588" y="4526280"/>
            <a:ext cx="1371600" cy="594360"/>
          </a:xfrm>
          <a:prstGeom prst="roundRect">
            <a:avLst>
              <a:gd name="adj" fmla="val 15385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04588" y="45262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huỷ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84548" y="38770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 từ chối báo giá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8640" y="521208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F4F8FA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77240" y="5212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chú:  </a:t>
            </a: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thay đổi trạng thái được ghi log thời gian &amp; người thực hiện, cho phép khách hàng và quản lý theo dõi tiến độ đơn hàng theo thời gian thực trên hệ thống.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NGHIỆP VỤ TỔNG THỂ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GIÁ TRỊ MANG LẠI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Lợi ích &amp; Chỉ số vận hành khi triển khai hệ thống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nghiệp vụ chuẩn hoá giúp cải thiện trực tiếp các chỉ số vận hành cốt lõi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63500" dist="25400" dir="54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06040" cy="640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03911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15 phút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67919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xác nhận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đặt lịch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0712" y="178308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63500" dist="25400" dir="54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10712" y="1783080"/>
            <a:ext cx="2606040" cy="6400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93592" y="203911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93592" y="267919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giá minh bạch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trước khi sửa chữa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2784" y="178308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63500" dist="25400" dir="54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72784" y="1783080"/>
            <a:ext cx="2606040" cy="6400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55664" y="203911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55664" y="267919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tiến độ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hàng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34856" y="178308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63500" dist="25400" dir="54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134856" y="1783080"/>
            <a:ext cx="2606040" cy="64008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317736" y="203911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Giảm thất thoát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317736" y="267919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tồn kho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 kiện chặt chẽ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11091672" cy="651967"/>
          </a:xfrm>
          <a:prstGeom prst="roundRect">
            <a:avLst>
              <a:gd name="adj" fmla="val 11220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49808" y="3956152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9808" y="3956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80160" y="3794760"/>
            <a:ext cx="10195560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Rút ngắn thời gian phản hồi và điều phối kỹ thuật viên nhờ quy trình được chuẩn hoá, giảm thao tác thủ công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593031"/>
            <a:ext cx="11091672" cy="651967"/>
          </a:xfrm>
          <a:prstGeom prst="roundRect">
            <a:avLst>
              <a:gd name="adj" fmla="val 11220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49808" y="4754423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9808" y="475442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80160" y="4593031"/>
            <a:ext cx="10195560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trải nghiệm và sự hài lòng của khách hàng thông qua báo giá minh bạch, thông báo tiến độ và khảo sát sau dịch vụ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391302"/>
            <a:ext cx="11091672" cy="651967"/>
          </a:xfrm>
          <a:prstGeom prst="roundRect">
            <a:avLst>
              <a:gd name="adj" fmla="val 11220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49808" y="5552694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49808" y="555269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80160" y="5391302"/>
            <a:ext cx="10195560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soát chặt chẽ vật tư – linh kiện, hạn chế thất thoát và chủ động cảnh báo khi tồn kho thấp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6189574"/>
            <a:ext cx="11091672" cy="651967"/>
          </a:xfrm>
          <a:prstGeom prst="roundRect">
            <a:avLst>
              <a:gd name="adj" fmla="val 11220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49808" y="6350965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49808" y="635096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280160" y="6189574"/>
            <a:ext cx="10195560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Cung cấp dữ liệu và báo cáo thời gian thực phục vụ ra quyết định quản lý và cải tiến dịch vụ liên tục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NGHIỆP VỤ TỔNG THỂ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966960" y="3931920"/>
            <a:ext cx="3840480" cy="384048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quy trình liền mạch — từ cuộc gọi đầu tiên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đến sự hài lòng cuối cùng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2743200" cy="0"/>
          </a:xfrm>
          <a:prstGeom prst="line">
            <a:avLst/>
          </a:prstGeom>
          <a:noFill/>
          <a:ln w="28575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70432" y="285292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hoá biểu mẫu dữ liệu và mã hoá trạng thái đơn hàng trong hệ thống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447288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447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70432" y="3419856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ứng dụng cho Khách hàng, Kỹ thuật viên và Điều phối viên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014216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70432" y="3986784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Đào tạo quy trình cho đội ngũ kỹ thuật viên và tổng đài viên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581144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70432" y="4553712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thí điểm theo khu vực trước khi nhân rộng toàn hệ thống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quý anh/chị đã theo dõi.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1827</Words>
  <Application>Microsoft Office PowerPoint</Application>
  <PresentationFormat>Widescreen</PresentationFormat>
  <Paragraphs>284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thieu thuy</cp:lastModifiedBy>
  <cp:revision>2</cp:revision>
  <dcterms:created xsi:type="dcterms:W3CDTF">2026-07-13T07:22:28Z</dcterms:created>
  <dcterms:modified xsi:type="dcterms:W3CDTF">2026-07-13T07:35:01Z</dcterms:modified>
</cp:coreProperties>
</file>